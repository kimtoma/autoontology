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하반기 영업전략회의록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일시 2026년 7월 8일 오후 2시 · 장소 본사 3층 대회의실 · 작성 영업본부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회의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참석자: 영업본부장, 영업1팀장, 영업2팀장, 영업3팀장, 고객지원팀장, 재무회계팀 과장, 구매팀 과장</a:t>
            </a:r>
          </a:p>
          <a:p>
            <a:pPr>
              <a:spcAft>
                <a:spcPts val="800"/>
              </a:spcAft>
              <a:defRPr sz="1500"/>
            </a:pPr>
            <a:r>
              <a:t>• 안건: 상반기 영업 실적 점검, 하반기 주력 제품과 목표, 연체 고객 관리, 계약 갱신 계획, 공급사 단가 협상</a:t>
            </a:r>
          </a:p>
          <a:p>
            <a:pPr>
              <a:spcAft>
                <a:spcPts val="800"/>
              </a:spcAft>
              <a:defRPr sz="1500"/>
            </a:pPr>
            <a:r>
              <a:t>• 회의 목적은 상반기 주문과 청구 실적을 돌아보고 하반기 영업 목표와 실행 과제를 정하는 것이다</a:t>
            </a:r>
          </a:p>
          <a:p>
            <a:pPr>
              <a:spcAft>
                <a:spcPts val="800"/>
              </a:spcAft>
              <a:defRPr sz="1500"/>
            </a:pPr>
            <a:r>
              <a:t>• 결정 사항과 후속 조치는 마지막 장에 담당자와 기한을 함께 정리하였다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0"/>
                <a:gridCol w="225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내용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주관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영업본부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다음 회의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2026년 10월 7일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상반기 실적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상반기 신규 계약은 목표의 92%를 달성했으며, 제조 업종 고객의 신규 계약이 가장 많이 늘었다</a:t>
            </a:r>
          </a:p>
          <a:p>
            <a:pPr>
              <a:spcAft>
                <a:spcPts val="800"/>
              </a:spcAft>
              <a:defRPr sz="1500"/>
            </a:pPr>
            <a:r>
              <a:t>• 청구금액은 전년 같은 기간보다 늘었지만 수납률은 소폭 낮아져 연체 청구서 관리가 필요하다</a:t>
            </a:r>
          </a:p>
          <a:p>
            <a:pPr>
              <a:spcAft>
                <a:spcPts val="800"/>
              </a:spcAft>
              <a:defRPr sz="1500"/>
            </a:pPr>
            <a:r>
              <a:t>• 영업2팀은 영남 지역 건설 고객의 대형 계약 두 건을 따내 팀 목표를 넘겼다</a:t>
            </a:r>
          </a:p>
          <a:p>
            <a:pPr>
              <a:spcAft>
                <a:spcPts val="800"/>
              </a:spcAft>
              <a:defRPr sz="1500"/>
            </a:pPr>
            <a:r>
              <a:t>• 영업3팀은 호남·충청 지역 도소매 고객의 주문 건수가 줄어 하반기 회복 계획을 세우기로 하였다</a:t>
            </a:r>
          </a:p>
          <a:p>
            <a:pPr>
              <a:spcAft>
                <a:spcPts val="800"/>
              </a:spcAft>
              <a:defRPr sz="1500"/>
            </a:pPr>
            <a:r>
              <a:t>• 영업1팀장은 수도권 신규 고객의 첫 주문 금액이 작아 주문당 출고 비용이 커지고 있다고 보고하였다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신규 계약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목표 달성률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영업1팀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영업2팀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104%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영업3팀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하반기 주력 제품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하반기에는 배관자재와 공구류, 안전용품 카테고리를 주력 제품으로 정하고 단가표 개정에 맞춰 제안서를 새로 만든다</a:t>
            </a:r>
          </a:p>
          <a:p>
            <a:pPr>
              <a:spcAft>
                <a:spcPts val="800"/>
              </a:spcAft>
              <a:defRPr sz="1500"/>
            </a:pPr>
            <a:r>
              <a:t>• 제품코드별 주문 실적을 보면 안전용품의 재주문 비율이 가장 높아 정기 납품 계약으로 전환할 여지가 크다</a:t>
            </a:r>
          </a:p>
          <a:p>
            <a:pPr>
              <a:spcAft>
                <a:spcPts val="800"/>
              </a:spcAft>
              <a:defRPr sz="1500"/>
            </a:pPr>
            <a:r>
              <a:t>• 구매팀은 주력 제품의 공급사와 물량 할인 조건을 협상하고 결과를 8월 말까지 공유한다</a:t>
            </a:r>
          </a:p>
          <a:p>
            <a:pPr>
              <a:spcAft>
                <a:spcPts val="800"/>
              </a:spcAft>
              <a:defRPr sz="1500"/>
            </a:pPr>
            <a:r>
              <a:t>• 재고가 부족한 제품은 물류팀과 함께 안전 재고 기준을 다시 정한다</a:t>
            </a:r>
          </a:p>
          <a:p>
            <a:pPr>
              <a:spcAft>
                <a:spcPts val="800"/>
              </a:spcAft>
              <a:defRPr sz="1500"/>
            </a:pPr>
            <a:r>
              <a:t>• 신제품은 제품코드를 받은 뒤 입고검사를 통과해야 제안서에 넣을 수 있으므로 구매팀과 일정을 미리 맞춘다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하반기 주문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비고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배관자재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전년 대비 15%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건설 고객 중심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공구류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전년 대비 10%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도소매 고객 중심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안전용품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전년 대비 20%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정기 납품 전환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연체 고객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재무회계팀은 연체 청구서가 있는 고객 목록을 매주 월요일에 각 영업팀에 보낸다</a:t>
            </a:r>
          </a:p>
          <a:p>
            <a:pPr>
              <a:spcAft>
                <a:spcPts val="800"/>
              </a:spcAft>
              <a:defRPr sz="1500"/>
            </a:pPr>
            <a:r>
              <a:t>• 담당자는 연체 고객을 2주 안에 방문하거나 통화하여 지급 계획을 받고 그 내용을 상담 기록에 남긴다</a:t>
            </a:r>
          </a:p>
          <a:p>
            <a:pPr>
              <a:spcAft>
                <a:spcPts val="800"/>
              </a:spcAft>
              <a:defRPr sz="1500"/>
            </a:pPr>
            <a:r>
              <a:t>• 90일 이상 연체한 고객은 계약 해지를 검토하고, 신용등급을 낮추는 안을 재무회계팀과 협의한다</a:t>
            </a:r>
          </a:p>
          <a:p>
            <a:pPr>
              <a:spcAft>
                <a:spcPts val="800"/>
              </a:spcAft>
              <a:defRPr sz="1500"/>
            </a:pPr>
            <a:r>
              <a:t>• 부분수납이 반복되는 고객에게는 분할 수납 조건을 정식으로 승인받아 납기일을 다시 정한다</a:t>
            </a:r>
          </a:p>
          <a:p>
            <a:pPr>
              <a:spcAft>
                <a:spcPts val="800"/>
              </a:spcAft>
              <a:defRPr sz="1500"/>
            </a:pPr>
            <a:r>
              <a:t>• 재무회계팀 과장은 연체 고객과의 통화 내용과 지급 약속일을 상담 기록에 빠짐없이 적어 달라고 요청하였다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수납상태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담당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부분수납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지급 계획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 담당자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연체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독촉장 발송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재무회계팀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90일 이상 연체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해지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영업팀장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계약 갱신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올해 하반기에 종료일이 돌아오는 계약은 모두 60일 전에 만료 예정 안내를 보낸다</a:t>
            </a:r>
          </a:p>
          <a:p>
            <a:pPr>
              <a:spcAft>
                <a:spcPts val="800"/>
              </a:spcAft>
              <a:defRPr sz="1500"/>
            </a:pPr>
            <a:r>
              <a:t>• 계약금액이 10% 이상 늘어나는 갱신 계약은 승인 기준을 다시 적용하므로 일정을 여유 있게 잡는다</a:t>
            </a:r>
          </a:p>
          <a:p>
            <a:pPr>
              <a:spcAft>
                <a:spcPts val="800"/>
              </a:spcAft>
              <a:defRPr sz="1500"/>
            </a:pPr>
            <a:r>
              <a:t>• 갱신 계약에는 새로운 계약ID를 부여하고 종전 계약과의 관계를 반드시 기록한다</a:t>
            </a:r>
          </a:p>
          <a:p>
            <a:pPr>
              <a:spcAft>
                <a:spcPts val="800"/>
              </a:spcAft>
              <a:defRPr sz="1500"/>
            </a:pPr>
            <a:r>
              <a:t>• 해지된 계약의 고객에게는 재계약 조건으로 선입금을 제안한다</a:t>
            </a:r>
          </a:p>
          <a:p>
            <a:pPr>
              <a:spcAft>
                <a:spcPts val="800"/>
              </a:spcAft>
              <a:defRPr sz="1500"/>
            </a:pPr>
            <a:r>
              <a:t>• 갱신을 원하지 않는 고객에게는 이유를 묻고 그 내용을 상담 기록에 남겨 다음 제안에 반영한다</a:t>
            </a:r>
          </a:p>
          <a:p>
            <a:pPr>
              <a:spcAft>
                <a:spcPts val="800"/>
              </a:spcAft>
              <a:defRPr sz="1500"/>
            </a:pPr>
            <a:r>
              <a:t>• 영업2팀장은 갱신 계약의 승인 일정이 늦어지지 않도록 승인 요청서를 종료일 90일 전에 미리 올리자고 제안하였다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만료 예정 계약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갱신 목표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공급사 단가 협상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구매팀은 원자재 가격 상승으로 일부 공급사가 단가 인상을 요청했다고 보고하였다</a:t>
            </a:r>
          </a:p>
          <a:p>
            <a:pPr>
              <a:spcAft>
                <a:spcPts val="800"/>
              </a:spcAft>
              <a:defRPr sz="1500"/>
            </a:pPr>
            <a:r>
              <a:t>• 단가 인상이 확정되면 10월 1일 적용일로 단가표를 개정하고 공지사항으로 고객에게 미리 알린다</a:t>
            </a:r>
          </a:p>
          <a:p>
            <a:pPr>
              <a:spcAft>
                <a:spcPts val="800"/>
              </a:spcAft>
              <a:defRPr sz="1500"/>
            </a:pPr>
            <a:r>
              <a:t>• 단가 고정 조건이 있는 계약은 계약기간 동안 기존 단가를 유지하므로 영업팀이 해당 계약 목록을 정리한다</a:t>
            </a:r>
          </a:p>
          <a:p>
            <a:pPr>
              <a:spcAft>
                <a:spcPts val="800"/>
              </a:spcAft>
              <a:defRPr sz="1500"/>
            </a:pPr>
            <a:r>
              <a:t>• 평가등급이 C인 공급사의 제품은 다른 공급사로 바꾸는 방안을 함께 검토한다</a:t>
            </a:r>
          </a:p>
          <a:p>
            <a:pPr>
              <a:spcAft>
                <a:spcPts val="800"/>
              </a:spcAft>
              <a:defRPr sz="1500"/>
            </a:pPr>
            <a:r>
              <a:t>• 협상 결과는 공급사ID와 제품코드별로 정리하여 영업팀이 고객 제안 단가를 정하는 데 쓴다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0"/>
                <a:gridCol w="225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공급사 평가등급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협상 방침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물량 할인 확대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인상 폭 최소화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대체 공급사 검토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고객 지원과 품질 클레임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고객지원팀장은 상반기에 접수된 품질 클레임의 절반 이상이 포장 불량과 수량 오류였다고 보고하였다</a:t>
            </a:r>
          </a:p>
          <a:p>
            <a:pPr>
              <a:spcAft>
                <a:spcPts val="800"/>
              </a:spcAft>
              <a:defRPr sz="1500"/>
            </a:pPr>
            <a:r>
              <a:t>• 품질관리팀과 물류팀은 출하검사에서 포장 상태와 제품코드 표기를 확인하는 항목을 늘리기로 하였다</a:t>
            </a:r>
          </a:p>
          <a:p>
            <a:pPr>
              <a:spcAft>
                <a:spcPts val="800"/>
              </a:spcAft>
              <a:defRPr sz="1500"/>
            </a:pPr>
            <a:r>
              <a:t>• 클레임이 접수되면 영업 담당자가 하루 안에 고객에게 첫 연락을 하고, 처리 결과는 고객지원팀이 회신한다</a:t>
            </a:r>
          </a:p>
          <a:p>
            <a:pPr>
              <a:spcAft>
                <a:spcPts val="800"/>
              </a:spcAft>
              <a:defRPr sz="1500"/>
            </a:pPr>
            <a:r>
              <a:t>• 같은 고객에게서 클레임이 세 번 이상 접수되면 영업팀장이 직접 고객을 방문하여 개선 계획을 설명한다</a:t>
            </a:r>
          </a:p>
          <a:p>
            <a:pPr>
              <a:spcAft>
                <a:spcPts val="800"/>
              </a:spcAft>
              <a:defRPr sz="1500"/>
            </a:pPr>
            <a:r>
              <a:t>• 클레임 처리 결과는 다음 회의에서 영업팀별로 다시 점검한다</a:t>
            </a:r>
          </a:p>
          <a:p>
            <a:pPr>
              <a:spcAft>
                <a:spcPts val="800"/>
              </a:spcAft>
              <a:defRPr sz="1500"/>
            </a:pPr>
            <a:r>
              <a:t>• 고객지원팀은 클레임 접수부터 고객 회신까지 걸린 날수를 매월 집계하여 영업본부장에게 보고하기로 하였다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클레임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상반기 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개선 방향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포장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출하검사 항목 추가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수량 오류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출고 전 이중 확인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성능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공급사 시정조치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결정 사항과 후속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하반기 영업 목표와 주력 제품 계획을 확정하고 팀별 세부 계획을 7월 말까지 제출한다</a:t>
            </a:r>
          </a:p>
          <a:p>
            <a:pPr>
              <a:spcAft>
                <a:spcPts val="800"/>
              </a:spcAft>
              <a:defRPr sz="1500"/>
            </a:pPr>
            <a:r>
              <a:t>• 연체 고객 주간 보고 체계를 7월 셋째 주부터 시행한다</a:t>
            </a:r>
          </a:p>
          <a:p>
            <a:pPr>
              <a:spcAft>
                <a:spcPts val="800"/>
              </a:spcAft>
              <a:defRPr sz="1500"/>
            </a:pPr>
            <a:r>
              <a:t>• 단가표 개정안은 구매팀이 9월 첫째 주까지 확정한다</a:t>
            </a:r>
          </a:p>
          <a:p>
            <a:pPr>
              <a:spcAft>
                <a:spcPts val="800"/>
              </a:spcAft>
              <a:defRPr sz="1500"/>
            </a:pPr>
            <a:r>
              <a:t>• 고객지원팀은 하반기 고객 만족도 조사 문항에 품질 클레임 처리 속도를 추가한다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0" y="1600000"/>
          <a:ext cx="45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</a:tblGrid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후속 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담당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기한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팀별 세부 계획 제출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각 영업팀장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7월 31일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연체 고객 주간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재무회계팀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7월 셋째 주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단가표 개정안 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구매팀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9월 5일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하반기 영업전략회의록</dc:title>
  <dc:subject/>
  <dc:creator>AutoOntology samples</dc:creator>
  <cp:keywords/>
  <dc:description>generated using python-pptx</dc:description>
  <cp:lastModifiedBy/>
  <cp:revision>1</cp:revision>
  <dcterms:created xsi:type="dcterms:W3CDTF">2026-10-01T09:00:00Z</dcterms:created>
  <dcterms:modified xsi:type="dcterms:W3CDTF">2026-10-01T09:00:00Z</dcterms:modified>
  <cp:category/>
</cp:coreProperties>
</file>