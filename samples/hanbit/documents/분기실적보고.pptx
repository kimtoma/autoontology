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2026년 3분기 실적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기준일 2026-09-30 · 작성 경영지원본부 재무회계팀 · 보고 대상 대표이사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2026년 1월부터 9월까지 청구서 303건, 청구금액 101.2억원을 발행했고 수납금액은 85.6억원으로 수납률은 84.6%이다</a:t>
            </a:r>
          </a:p>
          <a:p>
            <a:pPr>
              <a:spcAft>
                <a:spcPts val="800"/>
              </a:spcAft>
              <a:defRPr sz="1500"/>
            </a:pPr>
            <a:r>
              <a:t>• 3분기 청구금액은 29.8억원으로 2분기 36.8억원과 비교하여 줄었다</a:t>
            </a:r>
          </a:p>
          <a:p>
            <a:pPr>
              <a:spcAft>
                <a:spcPts val="800"/>
              </a:spcAft>
              <a:defRPr sz="1500"/>
            </a:pPr>
            <a:r>
              <a:t>• 기준일 현재 진행중인 계약은 148건이며 올해 새로 시작한 계약은 57건이다</a:t>
            </a:r>
          </a:p>
          <a:p>
            <a:pPr>
              <a:spcAft>
                <a:spcPts val="800"/>
              </a:spcAft>
              <a:defRPr sz="1500"/>
            </a:pPr>
            <a:r>
              <a:t>• 연체 청구서의 미수금 합계는 51.3억원으로 연체 고객 관리가 계속 필요하다</a:t>
            </a:r>
          </a:p>
          <a:p>
            <a:pPr>
              <a:spcAft>
                <a:spcPts val="800"/>
              </a:spcAft>
              <a:defRPr sz="1500"/>
            </a:pPr>
            <a:r>
              <a:t>• 이 보고서의 금액은 모두 부가가치세를 제외한 원 단위 금액을 억원으로 줄여 표시하였다</a:t>
            </a:r>
          </a:p>
          <a:p>
            <a:pPr>
              <a:spcAft>
                <a:spcPts val="800"/>
              </a:spcAft>
              <a:defRPr sz="1500"/>
            </a:pPr>
            <a:r>
              <a:t>• 지난해 같은 기간(1~9월) 수납률은 91.5%이었고 올해는 84.6%이며, 연체 미수금이 많은 고객은 별도 장에 정리하였다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0"/>
                <a:gridCol w="225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값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청구서 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303건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청구금액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101.2억원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수납금액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85.6억원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수납률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84.6%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분기별 청구와 수납 추이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분기별 청구금액은 해당 분기에 발행한 청구서의 청구금액을 합한 값이다</a:t>
            </a:r>
          </a:p>
          <a:p>
            <a:pPr>
              <a:spcAft>
                <a:spcPts val="800"/>
              </a:spcAft>
              <a:defRPr sz="1500"/>
            </a:pPr>
            <a:r>
              <a:t>• 수납금액은 그 청구서들에 기준일까지 입금된 금액의 합계이므로 최근 분기일수록 수납률이 낮다</a:t>
            </a:r>
          </a:p>
          <a:p>
            <a:pPr>
              <a:spcAft>
                <a:spcPts val="800"/>
              </a:spcAft>
              <a:defRPr sz="1500"/>
            </a:pPr>
            <a:r>
              <a:t>• 납기일은 청구일부터 30일이므로 3분기 말에 발행한 청구서는 아직 납기일이 지나지 않았다</a:t>
            </a:r>
          </a:p>
          <a:p>
            <a:pPr>
              <a:spcAft>
                <a:spcPts val="800"/>
              </a:spcAft>
              <a:defRPr sz="1500"/>
            </a:pPr>
            <a:r>
              <a:t>• 정기 납품 계약은 매월 청구하므로 분기별 청구 건수의 변화는 주문 실적의 변화와 함께 움직인다</a:t>
            </a:r>
          </a:p>
          <a:p>
            <a:pPr>
              <a:spcAft>
                <a:spcPts val="800"/>
              </a:spcAft>
              <a:defRPr sz="1500"/>
            </a:pPr>
            <a:r>
              <a:t>• 2025년 같은 분기와 비교할 때는 그 분기의 계약 갱신 건수와 신규 계약 건수를 함께 본다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청구 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청구금액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수납금액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수납률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2025년 1분기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23.5억원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21.3억원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90.4%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2025년 2분기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25.3억원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23.3억원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92.2%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2025년 3분기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30.6억원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28.0억원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91.6%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2025년 4분기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29.4억원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27.5억원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93.5%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2026년 1분기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34.6억원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28.2억원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81.5%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2026년 2분기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36.8억원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33.2억원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90.3%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2026년 3분기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29.8억원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24.2억원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81.3%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영업팀별 실적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영업팀별 실적은 계약의 담당자ID가 속한 부서를 기준으로 집계하였다</a:t>
            </a:r>
          </a:p>
          <a:p>
            <a:pPr>
              <a:spcAft>
                <a:spcPts val="800"/>
              </a:spcAft>
              <a:defRPr sz="1500"/>
            </a:pPr>
            <a:r>
              <a:t>• 올해 청구금액이 가장 많은 팀은 영업1팀이며, 팀별 금액은 아래 표와 같다</a:t>
            </a:r>
          </a:p>
          <a:p>
            <a:pPr>
              <a:spcAft>
                <a:spcPts val="800"/>
              </a:spcAft>
              <a:defRPr sz="1500"/>
            </a:pPr>
            <a:r>
              <a:t>• 영업1팀은 서울·경기·인천·강원, 영업2팀은 영남, 영업3팀은 호남·충청·제주 지역의 고객을 맡는다</a:t>
            </a:r>
          </a:p>
          <a:p>
            <a:pPr>
              <a:spcAft>
                <a:spcPts val="800"/>
              </a:spcAft>
              <a:defRPr sz="1500"/>
            </a:pPr>
            <a:r>
              <a:t>• 수납률이 낮은 팀은 연체 고객 주간 보고를 바탕으로 담당자별 방문 계획을 세운다</a:t>
            </a:r>
          </a:p>
          <a:p>
            <a:pPr>
              <a:spcAft>
                <a:spcPts val="800"/>
              </a:spcAft>
              <a:defRPr sz="1500"/>
            </a:pPr>
            <a:r>
              <a:t>• 팀별 청구 건수에는 담당자가 바뀐 계약도 새 담당자의 팀으로 포함하였다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000"/>
                <a:gridCol w="1125000"/>
                <a:gridCol w="1125000"/>
                <a:gridCol w="1125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청구 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청구금액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수납률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영업1팀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43.3억원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78.9%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영업2팀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33.2억원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88.5%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영업3팀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24.7억원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업종별 고객 실적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업종은 고객 등록 때 정한 도소매, 제조, 건설, 물류, 공공기관 다섯 가지 분류를 따른다</a:t>
            </a:r>
          </a:p>
          <a:p>
            <a:pPr>
              <a:spcAft>
                <a:spcPts val="800"/>
              </a:spcAft>
              <a:defRPr sz="1500"/>
            </a:pPr>
            <a:r>
              <a:t>• 올해 청구금액이 가장 많은 업종은 제조이고 가장 적은 업종은 물류이다</a:t>
            </a:r>
          </a:p>
          <a:p>
            <a:pPr>
              <a:spcAft>
                <a:spcPts val="800"/>
              </a:spcAft>
              <a:defRPr sz="1500"/>
            </a:pPr>
            <a:r>
              <a:t>• 수납률이 가장 높은 업종은 물류(93.5%)이고 가장 낮은 업종은 도소매(72.9%)이다</a:t>
            </a:r>
          </a:p>
          <a:p>
            <a:pPr>
              <a:spcAft>
                <a:spcPts val="800"/>
              </a:spcAft>
              <a:defRPr sz="1500"/>
            </a:pPr>
            <a:r>
              <a:t>• 건설 업종은 현장 일정에 따라 주문이 몰리므로 분기별 청구금액을 함께 살펴야 한다</a:t>
            </a:r>
          </a:p>
          <a:p>
            <a:pPr>
              <a:spcAft>
                <a:spcPts val="800"/>
              </a:spcAft>
              <a:defRPr sz="1500"/>
            </a:pPr>
            <a:r>
              <a:t>• 도소매 업종 고객에게는 소량 주문을 묶어 출고하는 방안을 영업팀과 물류팀이 함께 검토한다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2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000"/>
                <a:gridCol w="1125000"/>
                <a:gridCol w="1125000"/>
                <a:gridCol w="1125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업종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청구 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청구금액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수납률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제조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43.5억원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89.8%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22.2억원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80.7%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도소매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19.6억원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72.9%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공공기관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9.1억원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88.2%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물류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6.8억원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카테고리별 주문 실적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주문 실적은 올해 접수한 주문의 금액을 제품 카테고리별로 합한 값이다</a:t>
            </a:r>
          </a:p>
          <a:p>
            <a:pPr>
              <a:spcAft>
                <a:spcPts val="800"/>
              </a:spcAft>
              <a:defRPr sz="1500"/>
            </a:pPr>
            <a:r>
              <a:t>• 주문 금액은 주문일에 유효한 단가표의 단가에 수량을 곱하여 계산한다</a:t>
            </a:r>
          </a:p>
          <a:p>
            <a:pPr>
              <a:spcAft>
                <a:spcPts val="800"/>
              </a:spcAft>
              <a:defRPr sz="1500"/>
            </a:pPr>
            <a:r>
              <a:t>• 하반기 주력 제품으로 정한 배관자재, 공구류, 안전용품의 주문 추이를 다음 분기에도 계속 살핀다</a:t>
            </a:r>
          </a:p>
          <a:p>
            <a:pPr>
              <a:spcAft>
                <a:spcPts val="800"/>
              </a:spcAft>
              <a:defRPr sz="1500"/>
            </a:pPr>
            <a:r>
              <a:t>• 10월 1일 단가표 개정 이후의 주문은 4분기 보고에서 새 단가로 집계한다</a:t>
            </a:r>
          </a:p>
          <a:p>
            <a:pPr>
              <a:spcAft>
                <a:spcPts val="800"/>
              </a:spcAft>
              <a:defRPr sz="1500"/>
            </a:pPr>
            <a:r>
              <a:t>• 주문 건수가 줄어든 카테고리는 구매팀과 함께 공급사 단가와 재고 수준을 다시 점검한다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26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주문 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주문 금액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배관자재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2.3억원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공압유압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2.1억원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측정기기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2.1억원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윤활제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공구류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용접자재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1.9억원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수납상태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올해 발행한 청구서를 기준일의 수납상태별로 나누어 건수와 미수금을 집계하였다</a:t>
            </a:r>
          </a:p>
          <a:p>
            <a:pPr>
              <a:spcAft>
                <a:spcPts val="800"/>
              </a:spcAft>
              <a:defRPr sz="1500"/>
            </a:pPr>
            <a:r>
              <a:t>• 완납은 청구금액을 모두 받은 청구서이고 부분수납은 일부만 받은 청구서이다</a:t>
            </a:r>
          </a:p>
          <a:p>
            <a:pPr>
              <a:spcAft>
                <a:spcPts val="800"/>
              </a:spcAft>
              <a:defRPr sz="1500"/>
            </a:pPr>
            <a:r>
              <a:t>• 미수납은 아직 입금이 없지만 납기일이 지나지 않은 청구서이다</a:t>
            </a:r>
          </a:p>
          <a:p>
            <a:pPr>
              <a:spcAft>
                <a:spcPts val="800"/>
              </a:spcAft>
              <a:defRPr sz="1500"/>
            </a:pPr>
            <a:r>
              <a:t>• 연체는 납기일이 30일 넘게 지났는데 대금을 다 받지 못한 청구서로, 독촉장을 발송하였다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수납상태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청구 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미수금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완납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부분수납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2.6억원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미수납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3.0억원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연체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10.0억원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연체 상위 고객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연체 미수금이 많은 고객 다섯 곳을 고객ID와 함께 정리하였다</a:t>
            </a:r>
          </a:p>
          <a:p>
            <a:pPr>
              <a:spcAft>
                <a:spcPts val="800"/>
              </a:spcAft>
              <a:defRPr sz="1500"/>
            </a:pPr>
            <a:r>
              <a:t>• 담당자는 이 고객들을 2주 안에 방문하여 지급 계획을 받고 상담 기록에 남긴다</a:t>
            </a:r>
          </a:p>
          <a:p>
            <a:pPr>
              <a:spcAft>
                <a:spcPts val="800"/>
              </a:spcAft>
              <a:defRPr sz="1500"/>
            </a:pPr>
            <a:r>
              <a:t>• 90일 이상 연체가 계속되는 고객은 계약관리규정에 따라 계약 해지와 신용등급 조정을 검토한다</a:t>
            </a:r>
          </a:p>
          <a:p>
            <a:pPr>
              <a:spcAft>
                <a:spcPts val="800"/>
              </a:spcAft>
              <a:defRPr sz="1500"/>
            </a:pPr>
            <a:r>
              <a:t>• 연체가 해소된 고객은 다음 보고에서 목록에서 빼고 그 사실을 따로 적는다</a:t>
            </a:r>
          </a:p>
          <a:p>
            <a:pPr>
              <a:spcAft>
                <a:spcPts val="800"/>
              </a:spcAft>
              <a:defRPr sz="1500"/>
            </a:pPr>
            <a:r>
              <a:t>• 신용등급이 D로 낮아진 고객과의 새 거래는 선입금이나 보증보험 증권을 조건으로 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2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000"/>
                <a:gridCol w="1125000"/>
                <a:gridCol w="1125000"/>
                <a:gridCol w="1125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고객ID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고객명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연체 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미수금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주식회사 다온빛자재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3.2억원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나래솔자재(주)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2.1억원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주식회사 너울테크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2.1억원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주식회사 마루솔전기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1.9억원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주식회사 벼리기계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1.7억원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4분기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연체 미수금을 줄이기 위해 연체 고객 주간 보고를 계속하고 분할 수납 승인을 적극 활용한다</a:t>
            </a:r>
          </a:p>
          <a:p>
            <a:pPr>
              <a:spcAft>
                <a:spcPts val="800"/>
              </a:spcAft>
              <a:defRPr sz="1500"/>
            </a:pPr>
            <a:r>
              <a:t>• 10월 1일 단가표 개정 내용을 모든 진행중인 계약의 고객에게 다시 안내한다</a:t>
            </a:r>
          </a:p>
          <a:p>
            <a:pPr>
              <a:spcAft>
                <a:spcPts val="800"/>
              </a:spcAft>
              <a:defRPr sz="1500"/>
            </a:pPr>
            <a:r>
              <a:t>• 종료일이 다가오는 계약은 60일 전에 만료 예정 안내를 보내고 갱신 협의를 시작한다</a:t>
            </a:r>
          </a:p>
          <a:p>
            <a:pPr>
              <a:spcAft>
                <a:spcPts val="800"/>
              </a:spcAft>
              <a:defRPr sz="1500"/>
            </a:pPr>
            <a:r>
              <a:t>• 품질 클레임이 많았던 제품은 품질관리팀과 함께 출하검사 기준을 다시 점검한다</a:t>
            </a:r>
          </a:p>
          <a:p>
            <a:pPr>
              <a:spcAft>
                <a:spcPts val="800"/>
              </a:spcAft>
              <a:defRPr sz="1500"/>
            </a:pPr>
            <a:r>
              <a:t>• 영업팀별 목표 대비 실적은 다음 영업전략회의에서 다시 보고한다</a:t>
            </a:r>
          </a:p>
          <a:p>
            <a:pPr>
              <a:spcAft>
                <a:spcPts val="800"/>
              </a:spcAft>
              <a:defRPr sz="1500"/>
            </a:pPr>
            <a:r>
              <a:t>• 재무회계팀은 수납상태별 청구서 현황을 매월 10일까지 경영지원본부장에게 보고한다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과제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담당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기한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연체 고객 방문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각 영업팀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10월 31일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단가표 개정 재안내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고객지원팀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10월 15일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갱신 협의 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 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11월 30일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3분기 실적 보고</dc:title>
  <dc:subject/>
  <dc:creator>AutoOntology samples</dc:creator>
  <cp:keywords/>
  <dc:description>generated using python-pptx</dc:description>
  <cp:lastModifiedBy/>
  <cp:revision>1</cp:revision>
  <dcterms:created xsi:type="dcterms:W3CDTF">2026-10-01T09:00:00Z</dcterms:created>
  <dcterms:modified xsi:type="dcterms:W3CDTF">2026-10-01T09:00:00Z</dcterms:modified>
  <cp:category/>
</cp:coreProperties>
</file>